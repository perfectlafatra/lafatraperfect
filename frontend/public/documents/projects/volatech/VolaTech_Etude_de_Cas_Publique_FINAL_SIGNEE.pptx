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9" r:id="rId20"/>
    <p:sldId id="270" r:id="rId21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" y="484632"/>
            <a:ext cx="2743200" cy="73152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1">
                <a:solidFill>
                  <a:srgbClr val="2661E8"/>
                </a:solidFill>
                <a:latin typeface="Liberation Sans"/>
              </a:defRPr>
            </a:pPr>
            <a:r>
              <a:t>ÉTUDE DE CAS /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4000" b="1">
                <a:solidFill>
                  <a:srgbClr val="FFFFFF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807208"/>
            <a:ext cx="5394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Plateforme Web de vente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2000" b="0">
                <a:solidFill>
                  <a:srgbClr val="CFDFEA"/>
                </a:solidFill>
                <a:latin typeface="Liberation Sans"/>
              </a:defRPr>
            </a:pPr>
            <a:r>
              <a:t>et de retrait de produits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501091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JAVA 17   /   JAKARTA EE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DCE6EE"/>
                </a:solidFill>
                <a:latin typeface="Liberation Sans"/>
              </a:defRPr>
            </a:pPr>
            <a:r>
              <a:t>JSP · SERVLETS   /  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80760"/>
            <a:ext cx="2834640" cy="38404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6126480"/>
            <a:ext cx="2587752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FFFFF"/>
                </a:solidFill>
                <a:latin typeface="Liberation Sans"/>
              </a:defRPr>
            </a:pPr>
            <a:r>
              <a:t>PROJET WEB JAVA EE ·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097280"/>
            <a:ext cx="5340096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olatech_s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2050214"/>
            <a:ext cx="5340096" cy="25106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567842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B7CBD7"/>
                </a:solidFill>
                <a:latin typeface="Liberation Sans"/>
              </a:defRPr>
            </a:pPr>
            <a:r>
              <a:t>Capture du tableau de bord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Aptos"/>
              </a:rPr>
              <a:t>Présenté par : RANDRIAMANANTENA Fitahiana Lafatra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Le projet en bref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 parcours e-commerce avec validation et retrait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892808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DOMAINE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Commerce informatique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Catalogue de produits, panier, commandes et suivi des achats.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673352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892808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1920240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TRAITEMENT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Du panier au retrait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3522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Validation des commandes, facturation et parcours de retrait par QR.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" y="4078224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ACTEURS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Client et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Interfaces distinctes pour les achats et l’exploitation de la boutique.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858768"/>
            <a:ext cx="54406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4078224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4105656"/>
            <a:ext cx="4818888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445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Java Web traditionnel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0640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Servlets/JSP, services Java, accès JDBC et base PostgreSQL.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ANALYSE DES BESOINS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Une chaîne d’achat cohérente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Relier des fonctions commerciales qui nécessitent plusieurs états métier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47088"/>
            <a:ext cx="358444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" y="2066543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93976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2532888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3108960"/>
            <a:ext cx="3127248" cy="20756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Présenter les catégories, les prix et les disponibilités.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47088"/>
            <a:ext cx="358444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6864" y="2066543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2093976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32888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COMMANDE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108960"/>
            <a:ext cx="3127248" cy="20756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Conserver panier, lignes de commande, montant et statut.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847088"/>
            <a:ext cx="358444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9912" y="2066543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2093976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532888"/>
            <a:ext cx="3127248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RETRAIT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3108960"/>
            <a:ext cx="3127248" cy="207568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Produire la facture, puis tracer la validation et le retrait.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15000"/>
            <a:ext cx="10972800" cy="48463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24728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IMPORTANT  Le mode de paiement documenté est une simulation, non un encaissement bancaire.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Du catalogue au retrait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Processus conçu pour une boutique à retrait contrôlé.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Acheter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Consulter le catalogue et constituer le panier.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8134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1014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3310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1014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Commander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014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Enregistrer la commande et ses articles.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8796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092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Valider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Traiter une étape de paiement simulé puis la caisse.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3698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6578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8874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578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Retirer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578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Présenter le QR et mettre à jour l’état du retrait.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50992"/>
            <a:ext cx="10972800" cy="48463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À RETENIR  Les contrôles de concurrence et de fin de parcours doivent être confirmés par tests complets.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Boutique et panier latéral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Parcours public d’achat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7452360" cy="45354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olatech_s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130105"/>
            <a:ext cx="7452360" cy="353047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0456" y="1636776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87451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CE QUE MONTRE CETTE VUE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2208" y="2542032"/>
            <a:ext cx="91440" cy="91440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441448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Catalogue catégorisé de produits informatiques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3383279"/>
            <a:ext cx="91440" cy="91440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3282696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Recherche, consultation des prix et constitution du panier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4224528"/>
            <a:ext cx="91440" cy="91440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123944"/>
            <a:ext cx="2633472" cy="7040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213C53"/>
                </a:solidFill>
                <a:latin typeface="Liberation Sans"/>
              </a:defRPr>
            </a:pPr>
            <a:r>
              <a:t>Accès à la validation de la commande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621792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6C7D8C"/>
                </a:solidFill>
                <a:latin typeface="Liberation Sans"/>
              </a:defRPr>
            </a:pPr>
            <a:r>
              <a:t>Capture d’interface ; produits et prix présentés à titre de démonstration.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Espace Client et dashboard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olatech_s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34812"/>
            <a:ext cx="5458968" cy="26226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olatech_s1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62833"/>
            <a:ext cx="5458968" cy="25665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ESPACE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Historique des commandes, filtres, statuts et totaux.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PILOTAGE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KPI de commandes et emplacements de graphiques d’activité.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Caisse et gestion des 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olatech_s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33040"/>
            <a:ext cx="5458968" cy="262615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99632" y="1600200"/>
            <a:ext cx="5458968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olatech_s1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44720"/>
            <a:ext cx="5458968" cy="260279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3949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VALIDATION EN CAISSE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Validation des commandes en caisse et préparation du retrait.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5047488"/>
            <a:ext cx="5413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518464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GESTION DES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550468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33495F"/>
                </a:solidFill>
                <a:latin typeface="Liberation Sans"/>
              </a:defRPr>
            </a:pPr>
            <a:r>
              <a:t>Suivi des produits, stocks et statuts de transactions.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Une application Web Jakarta EE en couches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Packaging WAR pour un serveur Jakarta EE, avec configuration WildFly prévue.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01 ·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JSP /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HTML/CSS, Tailwind et Chart.js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667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2661E8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556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673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02 ·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Servlets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673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Requêtes, sessions et contrôles de rôle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2661E8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280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03 · MÉTIER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280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Services 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280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Commandes, paiement, caisse et facture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8814" y="3200400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000" b="1">
                <a:solidFill>
                  <a:srgbClr val="2661E8"/>
                </a:solidFill>
                <a:latin typeface="Liberation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7706" y="1847088"/>
            <a:ext cx="2526030" cy="3026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8874" y="2103120"/>
            <a:ext cx="225171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04 ·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8874" y="2706624"/>
            <a:ext cx="216027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42E49"/>
                </a:solidFill>
                <a:latin typeface="Liberation Sans"/>
              </a:defRPr>
            </a:pPr>
            <a:r>
              <a:t>JDBC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8874" y="3666744"/>
            <a:ext cx="216027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66B80"/>
                </a:solidFill>
                <a:latin typeface="Liberation Sans"/>
              </a:defRPr>
            </a:pPr>
            <a:r>
              <a:t>Repositories et PostgreSQL via DataSource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14416"/>
            <a:ext cx="10972800" cy="48463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24144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TRANSVERSE  JSP/Servlets et JDBC caractérisent le projet ; il ne s’agit pas d’une application Spring Boot.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Sept tables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Entités clés et liens métier du modèle documenté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Identités et rôles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Familles de produits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755648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56816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40864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Articles, prix et stocks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Commandes et statuts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ORDER_ITEMS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Lignes, quantité, prix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6448" y="3099815"/>
            <a:ext cx="3621024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6" y="3300984"/>
            <a:ext cx="3182112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PAYMENTS / INVOICES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685031"/>
            <a:ext cx="3182112" cy="4114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425B72"/>
                </a:solidFill>
                <a:latin typeface="Liberation Sans"/>
              </a:defRPr>
            </a:pPr>
            <a:r>
              <a:t>Paiements et factures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910328"/>
            <a:ext cx="10972800" cy="57607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0056"/>
            <a:ext cx="10652760" cy="43891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RELATIONS  users → orders → order_items → products → categories ; orders → payments / invoices.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733288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0">
                <a:solidFill>
                  <a:srgbClr val="566C7F"/>
                </a:solidFill>
                <a:latin typeface="Liberation Sans"/>
              </a:defRPr>
            </a:pPr>
            <a:r>
              <a:t>Les sept tables sont identifiées dans l’archive ; le comptage des lignes et l’exécution complète ne sont pas revendiqués.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TRAITEMENTS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Gestion des états et des commandes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transitions de statut sont des règles métier et doivent être sécurisées côté serveur.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Construire les lignes et contrôler les articles.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8134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1014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3310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1014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1014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Produire une référence interne de paiement SIM-… 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8796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092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Caisse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Appliquer une validation administrative.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3698" y="1901952"/>
            <a:ext cx="262661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96578" y="2139696"/>
            <a:ext cx="521207" cy="521207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78874" y="225856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6578" y="2889504"/>
            <a:ext cx="2297430" cy="5943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152F4A"/>
                </a:solidFill>
                <a:latin typeface="Liberation Sans"/>
              </a:defRPr>
            </a:pPr>
            <a:r>
              <a:t>Retrait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6578" y="3666744"/>
            <a:ext cx="2260854" cy="10698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77D"/>
                </a:solidFill>
                <a:latin typeface="Liberation Sans"/>
              </a:defRPr>
            </a:pPr>
            <a:r>
              <a:t>Vérifier le QR puis enregistrer le retrait.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50992"/>
            <a:ext cx="10972800" cy="48463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À RETENIR  Les états de l’application ne valent pas confirmation d’un paiement réel par une banque.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F89"/>
                </a:solidFill>
                <a:latin typeface="Aptos"/>
              </a:rPr>
              <a:t>PAIEMENT /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1106424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D"/>
                </a:solidFill>
                <a:latin typeface="Aptos"/>
              </a:rPr>
              <a:t>Paiement par carte : interface simulée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43584"/>
            <a:ext cx="10927080" cy="32918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F89"/>
                </a:solidFill>
                <a:latin typeface="Aptos"/>
              </a:rPr>
              <a:t>Une étape de checkout illustrée avec un montant en ariary ; aucun débit bancaire n’est démontré.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487668"/>
            <a:ext cx="11128248" cy="9144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74536"/>
            <a:ext cx="6400800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C6F89"/>
                </a:solidFill>
                <a:latin typeface="Aptos"/>
              </a:rP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76072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563EB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28216"/>
            <a:ext cx="3931920" cy="4443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71" y="1883664"/>
            <a:ext cx="3415456" cy="40050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6007608"/>
            <a:ext cx="3621024" cy="18288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F89"/>
                </a:solidFill>
                <a:latin typeface="Aptos"/>
              </a:rPr>
              <a:t>Capture fournie · formulaire de test (carte / CVV d’exemple)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7448" y="1792224"/>
            <a:ext cx="683971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27448" y="1792224"/>
            <a:ext cx="4114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1938528"/>
            <a:ext cx="6446520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CE QUE MONTRE LA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295144"/>
            <a:ext cx="6428232" cy="6583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253D"/>
                </a:solidFill>
                <a:latin typeface="Aptos"/>
              </a:rPr>
              <a:t>Montant total, champs carte/expiration/CVV et confirmation de paiement.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182112"/>
            <a:ext cx="683971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27448" y="3182112"/>
            <a:ext cx="41148" cy="1234440"/>
          </a:xfrm>
          <a:prstGeom prst="rect">
            <a:avLst/>
          </a:prstGeom>
          <a:solidFill>
            <a:srgbClr val="098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3328416"/>
            <a:ext cx="6446520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9898F"/>
                </a:solidFill>
                <a:latin typeface="Aptos"/>
              </a:rPr>
              <a:t>ÉTAT DU PROJET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3685032"/>
            <a:ext cx="6428232" cy="6583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253D"/>
                </a:solidFill>
                <a:latin typeface="Aptos"/>
              </a:rPr>
              <a:t>Scénario fictif de paiement par carte ; la référence de transaction interne peut prendre la forme SIM-… 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4590288"/>
            <a:ext cx="683971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27448" y="4590288"/>
            <a:ext cx="41148" cy="1234440"/>
          </a:xfrm>
          <a:prstGeom prst="rect">
            <a:avLst/>
          </a:prstGeom>
          <a:solidFill>
            <a:srgbClr val="B96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4736592"/>
            <a:ext cx="6446520" cy="27432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96F12"/>
                </a:solidFill>
                <a:latin typeface="Aptos"/>
              </a:rPr>
              <a:t>INTERPRÉTATION CORRECTE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5093207"/>
            <a:ext cx="6428232" cy="65836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4253D"/>
                </a:solidFill>
                <a:latin typeface="Aptos"/>
              </a:rPr>
              <a:t>Une interface qui prépare un parcours de paiement ; pas une preuve de débit, de PSP ni de conformité PCI.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4688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F89"/>
                </a:solidFill>
                <a:latin typeface="Aptos"/>
              </a:rPr>
              <a:t>ARCHITECTURE / ÉVOLUTION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11064240" cy="53035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53D"/>
                </a:solidFill>
                <a:latin typeface="Aptos"/>
              </a:rPr>
              <a:t>De la simulation à une intégration bancaire réelle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43584"/>
            <a:ext cx="10927080" cy="32918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F89"/>
                </a:solidFill>
                <a:latin typeface="Aptos"/>
              </a:rPr>
              <a:t>L’interface serait réutilisable comme point de départ, sous réserve de remplacer la saisie sensible par un composant sécurisé.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487668"/>
            <a:ext cx="11128248" cy="9144"/>
          </a:xfrm>
          <a:prstGeom prst="rect">
            <a:avLst/>
          </a:prstGeom>
          <a:solidFill>
            <a:srgbClr val="DA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74536"/>
            <a:ext cx="6400800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C6F89"/>
                </a:solidFill>
                <a:latin typeface="Aptos"/>
              </a:rP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37960"/>
            <a:ext cx="576072" cy="25603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563EB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" y="1901952"/>
            <a:ext cx="270662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" y="205740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139696"/>
            <a:ext cx="329184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642616"/>
            <a:ext cx="2395728" cy="5669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D"/>
                </a:solidFill>
                <a:latin typeface="Aptos"/>
              </a:rPr>
              <a:t>Créer la commande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328416"/>
            <a:ext cx="2395728" cy="6949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C6F89"/>
                </a:solidFill>
                <a:latin typeface="Aptos"/>
              </a:rPr>
              <a:t>Le serveur calcule le montant et crée un paiement en attente.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1901952"/>
            <a:ext cx="270662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0168" y="205740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2139696"/>
            <a:ext cx="329184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642616"/>
            <a:ext cx="2395728" cy="5669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D"/>
                </a:solidFill>
                <a:latin typeface="Aptos"/>
              </a:rPr>
              <a:t>Passer par le PSP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328416"/>
            <a:ext cx="2395728" cy="6949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C6F89"/>
                </a:solidFill>
                <a:latin typeface="Aptos"/>
              </a:rPr>
              <a:t>Redirection ou champs hébergés par un prestataire autorisé.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901952"/>
            <a:ext cx="270662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19672" y="205740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139696"/>
            <a:ext cx="329184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642616"/>
            <a:ext cx="2395728" cy="5669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D"/>
                </a:solidFill>
                <a:latin typeface="Aptos"/>
              </a:rPr>
              <a:t>Authentifier le paiement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328416"/>
            <a:ext cx="2395728" cy="6949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C6F89"/>
                </a:solidFill>
                <a:latin typeface="Aptos"/>
              </a:rPr>
              <a:t>Le PSP traite la carte ; 3-D Secure si applicable.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44584" y="1901952"/>
            <a:ext cx="2706624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A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09176" y="205740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139696"/>
            <a:ext cx="329184" cy="173736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9176" y="2642616"/>
            <a:ext cx="2395728" cy="56692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253D"/>
                </a:solidFill>
                <a:latin typeface="Aptos"/>
              </a:rPr>
              <a:t>Confirmer côté serveur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3328416"/>
            <a:ext cx="2395728" cy="694944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C6F89"/>
                </a:solidFill>
                <a:latin typeface="Aptos"/>
              </a:rPr>
              <a:t>Webhook signé / vérification API, idempotence et statut final.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" y="4626864"/>
            <a:ext cx="10808208" cy="1024128"/>
          </a:xfrm>
          <a:prstGeom prst="roundRect">
            <a:avLst>
              <a:gd name="adj" fmla="val 12000"/>
            </a:avLst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782312"/>
            <a:ext cx="3840480" cy="228600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RÈGLE DE SÉCURITÉ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093208"/>
            <a:ext cx="10241280" cy="438912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253D"/>
                </a:solidFill>
                <a:latin typeface="Aptos"/>
              </a:rPr>
              <a:t>Ne pas conserver ni faire transiter numéro de carte et CVV dans l’application VolaTech. La collecte sensible doit être assurée par le PSP.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5989320"/>
            <a:ext cx="10607040" cy="292608"/>
          </a:xfrm>
          <a:prstGeom prst="rect">
            <a:avLst/>
          </a:prstGeom>
          <a:noFill/>
        </p:spPr>
        <p:txBody>
          <a:bodyPr wrap="square" lIns="0" rIns="0" tIns="9144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96F12"/>
                </a:solidFill>
                <a:latin typeface="Aptos"/>
              </a:rPr>
              <a:t>Perspective d’évolution technique — non implémentée ni validée dans la version présentée.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Facture PDF et QR de retrait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Une preuve documentaire intégrée au parcours de commande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618488"/>
            <a:ext cx="3950208" cy="45171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olatech_s1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63" y="1618488"/>
            <a:ext cx="3939113" cy="451713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800600" y="1636776"/>
            <a:ext cx="681228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856232"/>
            <a:ext cx="6309360" cy="2651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FACTURATION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203704"/>
            <a:ext cx="6364224" cy="5760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445D73"/>
                </a:solidFill>
                <a:latin typeface="Liberation Sans"/>
              </a:defRPr>
            </a:pPr>
            <a:r>
              <a:t>Document PDF généré par le serveur Java avec référence de commande.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191256"/>
            <a:ext cx="681228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3410712"/>
            <a:ext cx="6309360" cy="2651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CODE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3758184"/>
            <a:ext cx="6364224" cy="5760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445D73"/>
                </a:solidFill>
                <a:latin typeface="Liberation Sans"/>
              </a:defRPr>
            </a:pPr>
            <a:r>
              <a:t>Référence associée au retrait pour l’interface de contrôle.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745736"/>
            <a:ext cx="681228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4965192"/>
            <a:ext cx="6309360" cy="26517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1">
                <a:solidFill>
                  <a:srgbClr val="2661E8"/>
                </a:solidFill>
                <a:latin typeface="Liberation Sans"/>
              </a:defRPr>
            </a:pPr>
            <a:r>
              <a:t>PRUDENCE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5312664"/>
            <a:ext cx="6364224" cy="5760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400" b="0">
                <a:solidFill>
                  <a:srgbClr val="445D73"/>
                </a:solidFill>
                <a:latin typeface="Liberation Sans"/>
              </a:defRPr>
            </a:pPr>
            <a:r>
              <a:t>QR non présenté comme signé cryptographiquement ; usage illustratif.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9728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4688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100"/>
              </a:spcAft>
              <a:defRPr sz="1000" b="0">
                <a:solidFill>
                  <a:srgbClr val="6B7D94"/>
                </a:solidFill>
                <a:latin typeface="Liberation Sans"/>
              </a:defRPr>
            </a:pPr>
            <a:r>
              <a:t>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858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2800" b="1">
                <a:solidFill>
                  <a:srgbClr val="12233B"/>
                </a:solidFill>
                <a:latin typeface="Liberation Sans"/>
              </a:defRPr>
            </a:pPr>
            <a:r>
              <a:t>Mécanismes techniques et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2252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66778C"/>
                </a:solidFill>
                <a:latin typeface="Liberation Sans"/>
              </a:defRPr>
            </a:pPr>
            <a:r>
              <a:t>Les captures attestent les interfaces, pas une validation de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519672"/>
            <a:ext cx="11128248" cy="10972"/>
          </a:xfrm>
          <a:prstGeom prst="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583680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800" b="0">
                <a:solidFill>
                  <a:srgbClr val="7B8A9F"/>
                </a:solidFill>
                <a:latin typeface="Liberation Sans"/>
              </a:defRPr>
            </a:pPr>
            <a:r>
              <a:t>ÉTUDE DE CAS · PRÉSENTATION PUBLIQUE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47104"/>
            <a:ext cx="576072" cy="23774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865376"/>
            <a:ext cx="359359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" y="2084832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112264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551176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Séparation des couches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27248"/>
            <a:ext cx="3136392" cy="21854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Servlets, services, repositories et accès SQL paramétré.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865376"/>
            <a:ext cx="359359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2084832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2112264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ACCÈS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51176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Sessions et autorisations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27248"/>
            <a:ext cx="3136392" cy="21854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Espaces Client/ADMIN ; contrôles des données privées à renforcer.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865376"/>
            <a:ext cx="3593592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084832"/>
            <a:ext cx="73152" cy="475488"/>
          </a:xfrm>
          <a:prstGeom prst="round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112264"/>
            <a:ext cx="2971800" cy="2468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000" b="1">
                <a:solidFill>
                  <a:srgbClr val="2661E8"/>
                </a:solidFill>
                <a:latin typeface="Liberation Sans"/>
              </a:defRPr>
            </a:pPr>
            <a:r>
              <a:t>ROBUSTESSE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551176"/>
            <a:ext cx="3136392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1">
                <a:solidFill>
                  <a:srgbClr val="172D46"/>
                </a:solidFill>
                <a:latin typeface="Liberation Sans"/>
              </a:defRPr>
            </a:pPr>
            <a:r>
              <a:t>Transaction et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127248"/>
            <a:ext cx="3136392" cy="218541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300" b="0">
                <a:solidFill>
                  <a:srgbClr val="54667C"/>
                </a:solidFill>
                <a:latin typeface="Liberation Sans"/>
              </a:defRPr>
            </a:pPr>
            <a:r>
              <a:t>Atomicité des opérations, concurrence, idempotence et tests E2E à consolider.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724144"/>
            <a:ext cx="10972800" cy="484632"/>
          </a:xfrm>
          <a:prstGeom prst="roundRect">
            <a:avLst/>
          </a:prstGeom>
          <a:solidFill>
            <a:srgbClr val="ED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33872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0">
                <a:solidFill>
                  <a:srgbClr val="3A5365"/>
                </a:solidFill>
                <a:latin typeface="Liberation Sans"/>
              </a:defRPr>
            </a:pPr>
            <a:r>
              <a:t>PÉRIMÈTRE  Projet de démonstration : transactions financières simulées et absence de preuve de production.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1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6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120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700" b="1">
                <a:solidFill>
                  <a:srgbClr val="2661E8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44752"/>
            <a:ext cx="649224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3600" b="1">
                <a:solidFill>
                  <a:srgbClr val="FFFFFF"/>
                </a:solidFill>
                <a:latin typeface="Liberation Sans"/>
              </a:defRPr>
            </a:pPr>
            <a:r>
              <a:t>VolaTech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36976"/>
            <a:ext cx="5669280" cy="11704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800" b="0">
                <a:solidFill>
                  <a:srgbClr val="D4E1E9"/>
                </a:solidFill>
                <a:latin typeface="Liberation Sans"/>
              </a:defRPr>
            </a:pPr>
            <a:r>
              <a:t>Une étude de cas Java EE qui relie parcours e-commerce, logique de commande et persistance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Servlets &amp; JSP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91456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39" y="489204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SQL / JDBC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Facturation PDF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5422392"/>
            <a:ext cx="2587752" cy="438912"/>
          </a:xfrm>
          <a:prstGeom prst="roundRect">
            <a:avLst/>
          </a:prstGeom>
          <a:solidFill>
            <a:srgbClr val="25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5522976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1100" b="1">
                <a:solidFill>
                  <a:srgbClr val="F2F9FD"/>
                </a:solidFill>
                <a:latin typeface="Liberation Sans"/>
              </a:defRPr>
            </a:pPr>
            <a:r>
              <a:t>QR de retrait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325880"/>
            <a:ext cx="4663440" cy="4379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olatech_s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19593"/>
            <a:ext cx="4663440" cy="21925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9712" y="586130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Captures et architecture présentées à partir des documents du projet.</a:t>
            </a:r>
          </a:p>
          <a:p>
            <a:pPr algn="l">
              <a:lnSpc>
                <a:spcPct val="112000"/>
              </a:lnSpc>
              <a:spcAft>
                <a:spcPts val="100"/>
              </a:spcAft>
              <a:defRPr sz="900" b="0">
                <a:solidFill>
                  <a:srgbClr val="B6CADA"/>
                </a:solidFill>
                <a:latin typeface="Liberation Sans"/>
              </a:defRPr>
            </a:pPr>
            <a:r>
              <a:t>Aucune mise en production n’est présumée.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769" y="6547104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i="1">
                <a:solidFill>
                  <a:srgbClr val="737373"/>
                </a:solidFill>
                <a:latin typeface="Aptos"/>
              </a:rPr>
              <a:t>RANDRIAMANANTENA Fitahiana Lafatra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VOLATECH - Étude de cas publique</dc:title>
  <dc:subject>Présentation publique de projet logiciel</dc:subject>
  <dc:creator>RANDRIAMANANTENA Fitahiana Lafatra</dc:creator>
  <cp:keywords>Portfolio, étude de cas, architecture, application web</cp:keywords>
  <dc:description>Présenté par RANDRIAMANANTENA Fitahiana Lafatra</dc:description>
  <cp:lastModifiedBy>RANDRIAMANANTENA Fitahiana Lafatra</cp:lastModifiedBy>
  <cp:revision>1</cp:revision>
  <dcterms:created xsi:type="dcterms:W3CDTF">2013-01-27T09:14:16Z</dcterms:created>
  <dcterms:modified xsi:type="dcterms:W3CDTF">2013-01-27T09:15:58Z</dcterms:modified>
  <cp:category/>
</cp:coreProperties>
</file>