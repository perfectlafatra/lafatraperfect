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1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484632"/>
            <a:ext cx="2743200" cy="73152"/>
          </a:xfrm>
          <a:prstGeom prst="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400" b="1">
                <a:solidFill>
                  <a:srgbClr val="D6A62B"/>
                </a:solidFill>
                <a:latin typeface="Liberation Sans"/>
              </a:defRPr>
            </a:pPr>
            <a:r>
              <a:t>ÉTUDE DE CAS /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943600" cy="1371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4000" b="1">
                <a:solidFill>
                  <a:srgbClr val="FFFFFF"/>
                </a:solidFill>
                <a:latin typeface="Liberation Sans"/>
              </a:defRPr>
            </a:pPr>
            <a:r>
              <a:t>ZINA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2807208"/>
            <a:ext cx="5394960" cy="10515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000" b="0">
                <a:solidFill>
                  <a:srgbClr val="CFDFEA"/>
                </a:solidFill>
                <a:latin typeface="Liberation Sans"/>
              </a:defRPr>
            </a:pPr>
            <a:r>
              <a:t>by Tsara Volo</a:t>
            </a:r>
          </a:p>
          <a:p>
            <a:pPr algn="l">
              <a:lnSpc>
                <a:spcPct val="112000"/>
              </a:lnSpc>
              <a:spcAft>
                <a:spcPts val="100"/>
              </a:spcAft>
              <a:defRPr sz="2000" b="0">
                <a:solidFill>
                  <a:srgbClr val="CFDFEA"/>
                </a:solidFill>
                <a:latin typeface="Liberation Sans"/>
              </a:defRPr>
            </a:pPr>
            <a:r>
              <a:t>Plateforme Web orientée relation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5010912"/>
            <a:ext cx="52578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400" b="0">
                <a:solidFill>
                  <a:srgbClr val="DCE6EE"/>
                </a:solidFill>
                <a:latin typeface="Liberation Sans"/>
              </a:defRPr>
            </a:pPr>
            <a:r>
              <a:t>REACT / VITE   ·   SPRING BOOT</a:t>
            </a:r>
          </a:p>
          <a:p>
            <a:pPr algn="l">
              <a:lnSpc>
                <a:spcPct val="112000"/>
              </a:lnSpc>
              <a:spcAft>
                <a:spcPts val="100"/>
              </a:spcAft>
              <a:defRPr sz="1400" b="0">
                <a:solidFill>
                  <a:srgbClr val="DCE6EE"/>
                </a:solidFill>
                <a:latin typeface="Liberation Sans"/>
              </a:defRPr>
            </a:pPr>
            <a:r>
              <a:t>POSTGRESQL   ·   CRM INTERNE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080760"/>
            <a:ext cx="2834640" cy="384048"/>
          </a:xfrm>
          <a:prstGeom prst="round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6126480"/>
            <a:ext cx="2587752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FFFFFF"/>
                </a:solidFill>
                <a:latin typeface="Liberation Sans"/>
              </a:defRPr>
            </a:pPr>
            <a:r>
              <a:t>PROJET DE FIN DE LICENCE ·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1097280"/>
            <a:ext cx="5340096" cy="4416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zina_s13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76" y="2027476"/>
            <a:ext cx="5340096" cy="25561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46520" y="5678424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B7CBD7"/>
                </a:solidFill>
                <a:latin typeface="Liberation Sans"/>
              </a:defRPr>
            </a:pPr>
            <a:r>
              <a:t>Capture de la page d’accueil ZINA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7083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Aptos"/>
              </a:rPr>
              <a:t>Présenté par : RANDRIAMANANTENA Fitahiana Lafatra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D6A62B"/>
                </a:solidFill>
                <a:latin typeface="Liberation Sans"/>
              </a:defRPr>
            </a:pPr>
            <a:r>
              <a:t>ZINA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SYNTHÈSE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Le projet en bref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Digitalisation de la boutique, des services et de la relation client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" y="1673352"/>
            <a:ext cx="544068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892808"/>
            <a:ext cx="73152" cy="475488"/>
          </a:xfrm>
          <a:prstGeom prst="round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1920240"/>
            <a:ext cx="4818888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CADRE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359152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Projet académique en stage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935224"/>
            <a:ext cx="498348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Projet de fin de Licence DA2I, orienté besoins d’une enseigne de soins capillaires.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673352"/>
            <a:ext cx="544068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892808"/>
            <a:ext cx="73152" cy="475488"/>
          </a:xfrm>
          <a:prstGeom prst="round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2824" y="1920240"/>
            <a:ext cx="4818888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PROBLÈME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59152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Parcours dispersés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35224"/>
            <a:ext cx="498348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Boutique, rendez-vous et historique relation client à mieux articuler.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" y="3858768"/>
            <a:ext cx="544068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952" y="4078224"/>
            <a:ext cx="73152" cy="475488"/>
          </a:xfrm>
          <a:prstGeom prst="round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105656"/>
            <a:ext cx="4818888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544568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Plateforme intégrée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5120640"/>
            <a:ext cx="498348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Espaces public, Client et ADMIN, avec CRM interne et suivi des activités.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858768"/>
            <a:ext cx="544068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4078224"/>
            <a:ext cx="73152" cy="475488"/>
          </a:xfrm>
          <a:prstGeom prst="round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92824" y="4105656"/>
            <a:ext cx="4818888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TECHNOLOGIES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44568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React + Spring Boot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120640"/>
            <a:ext cx="498348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Frontend moderne, Backend Java, persistance relationnelle PostgreSQL.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D6A62B"/>
                </a:solidFill>
                <a:latin typeface="Liberation Sans"/>
              </a:defRPr>
            </a:pPr>
            <a:r>
              <a:t>ZINA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ENJEUX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Centraliser quatre domaines métier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Une logique produit articulée autour de l’expérience client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" y="1673352"/>
            <a:ext cx="5422392" cy="2002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892808"/>
            <a:ext cx="73152" cy="475488"/>
          </a:xfrm>
          <a:prstGeom prst="round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1920240"/>
            <a:ext cx="4800600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359152"/>
            <a:ext cx="496519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COMMERCE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35224"/>
            <a:ext cx="4965192" cy="60350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Catalogue, panier, commandes et suivi.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673352"/>
            <a:ext cx="5422392" cy="2002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9944" y="1892808"/>
            <a:ext cx="73152" cy="475488"/>
          </a:xfrm>
          <a:prstGeom prst="round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920240"/>
            <a:ext cx="4800600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359152"/>
            <a:ext cx="496519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935224"/>
            <a:ext cx="4965192" cy="60350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Prise de rendez-vous, soins et diagnostic capillaire.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" y="3867912"/>
            <a:ext cx="5422392" cy="2002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087368"/>
            <a:ext cx="73152" cy="475488"/>
          </a:xfrm>
          <a:prstGeom prst="round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114800"/>
            <a:ext cx="4800600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553712"/>
            <a:ext cx="496519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RELATION 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129784"/>
            <a:ext cx="4965192" cy="60350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Historique, communication et fidélisation.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867912"/>
            <a:ext cx="5422392" cy="2002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9944" y="4087368"/>
            <a:ext cx="73152" cy="475488"/>
          </a:xfrm>
          <a:prstGeom prst="round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4114800"/>
            <a:ext cx="4800600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4553712"/>
            <a:ext cx="496519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PILOTAGE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5129784"/>
            <a:ext cx="4965192" cy="60350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CRM interne, contenus et vues de gestion.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D6A62B"/>
                </a:solidFill>
                <a:latin typeface="Liberation Sans"/>
              </a:defRPr>
            </a:pPr>
            <a:r>
              <a:t>ZINA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ACTEURS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Trois espaces pour un même parcours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Les profils structurent la navigation et le niveau d’accès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92807"/>
            <a:ext cx="3593592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" y="2112263"/>
            <a:ext cx="73152" cy="475488"/>
          </a:xfrm>
          <a:prstGeom prst="round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139696"/>
            <a:ext cx="2971800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PUBLIC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2578608"/>
            <a:ext cx="313639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Découvrir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154679"/>
            <a:ext cx="3136392" cy="21214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Consulter le site, les services, les produits et les articles.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1892807"/>
            <a:ext cx="3593592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26864" y="2112263"/>
            <a:ext cx="73152" cy="475488"/>
          </a:xfrm>
          <a:prstGeom prst="round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18888" y="2139696"/>
            <a:ext cx="2971800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2578608"/>
            <a:ext cx="313639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Interagir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3154679"/>
            <a:ext cx="3136392" cy="21214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Préparer des achats, consulter ses demandes et son profil.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0456" y="1892807"/>
            <a:ext cx="3593592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39912" y="2112263"/>
            <a:ext cx="73152" cy="475488"/>
          </a:xfrm>
          <a:prstGeom prst="round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31936" y="2139696"/>
            <a:ext cx="2971800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2" y="2578608"/>
            <a:ext cx="313639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Organiser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3154679"/>
            <a:ext cx="3136392" cy="21214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Piloter les contenus, rendez-vous et relations clients.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724144"/>
            <a:ext cx="10972800" cy="484632"/>
          </a:xfrm>
          <a:prstGeom prst="roundRect">
            <a:avLst/>
          </a:prstGeom>
          <a:solidFill>
            <a:srgbClr val="F8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33872"/>
            <a:ext cx="1065276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0">
                <a:solidFill>
                  <a:srgbClr val="3A5365"/>
                </a:solidFill>
                <a:latin typeface="Liberation Sans"/>
              </a:defRPr>
            </a:pPr>
            <a:r>
              <a:t>RÈGLE  Les permissions doivent être vérifiées par l’API et non uniquement dans le frontend.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D6A62B"/>
                </a:solidFill>
                <a:latin typeface="Liberation Sans"/>
              </a:defRPr>
            </a:pPr>
            <a:r>
              <a:t>ZINA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INTERFACES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Accueil et identité de ZINA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Interface publique · capture du projet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27632"/>
            <a:ext cx="7452360" cy="45354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zina_s13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111722"/>
            <a:ext cx="7452360" cy="356724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220456" y="1636776"/>
            <a:ext cx="3456432" cy="4535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94776" y="1874519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D6A62B"/>
                </a:solidFill>
                <a:latin typeface="Liberation Sans"/>
              </a:defRPr>
            </a:pPr>
            <a:r>
              <a:t>CE QUE MONTRE CETTE VUE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22208" y="2542032"/>
            <a:ext cx="91440" cy="91440"/>
          </a:xfrm>
          <a:prstGeom prst="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2441448"/>
            <a:ext cx="2633472" cy="7040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400" b="0">
                <a:solidFill>
                  <a:srgbClr val="213C53"/>
                </a:solidFill>
                <a:latin typeface="Liberation Sans"/>
              </a:defRPr>
            </a:pPr>
            <a:r>
              <a:t>Page d’accueil thématique pour les soins capillaires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22208" y="3383279"/>
            <a:ext cx="91440" cy="91440"/>
          </a:xfrm>
          <a:prstGeom prst="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3282696"/>
            <a:ext cx="2633472" cy="7040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400" b="0">
                <a:solidFill>
                  <a:srgbClr val="213C53"/>
                </a:solidFill>
                <a:latin typeface="Liberation Sans"/>
              </a:defRPr>
            </a:pPr>
            <a:r>
              <a:t>Navigation vers les services, la boutique et le blog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22208" y="4224528"/>
            <a:ext cx="91440" cy="91440"/>
          </a:xfrm>
          <a:prstGeom prst="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4123944"/>
            <a:ext cx="2633472" cy="7040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400" b="0">
                <a:solidFill>
                  <a:srgbClr val="213C53"/>
                </a:solidFill>
                <a:latin typeface="Liberation Sans"/>
              </a:defRPr>
            </a:pPr>
            <a:r>
              <a:t>Bilinguisme FR/EN et personnalisation visuelle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6217920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900" b="0">
                <a:solidFill>
                  <a:srgbClr val="6C7D8C"/>
                </a:solidFill>
                <a:latin typeface="Liberation Sans"/>
              </a:defRPr>
            </a:pPr>
            <a:r>
              <a:t>Capture originale de la présentation fournie.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D6A62B"/>
                </a:solidFill>
                <a:latin typeface="Liberation Sans"/>
              </a:defRPr>
            </a:pPr>
            <a:r>
              <a:t>ZINA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INTERFACES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Services et boutique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600200"/>
            <a:ext cx="5458968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zina_s15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965108"/>
            <a:ext cx="5458968" cy="256202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99632" y="1600200"/>
            <a:ext cx="5458968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zina_s18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942762"/>
            <a:ext cx="5458968" cy="260671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39496" y="5047488"/>
            <a:ext cx="54132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5184648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D6A62B"/>
                </a:solidFill>
                <a:latin typeface="Liberation Sans"/>
              </a:defRPr>
            </a:pPr>
            <a:r>
              <a:t>CATALOGUE DE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550468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33495F"/>
                </a:solidFill>
                <a:latin typeface="Liberation Sans"/>
              </a:defRPr>
            </a:pPr>
            <a:r>
              <a:t>Présentation des soins, prestations et parcours associés.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5047488"/>
            <a:ext cx="54132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5184648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D6A62B"/>
                </a:solidFill>
                <a:latin typeface="Liberation Sans"/>
              </a:defRPr>
            </a:pPr>
            <a:r>
              <a:t>CATALOGUE PRODUITS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550468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33495F"/>
                </a:solidFill>
                <a:latin typeface="Liberation Sans"/>
              </a:defRPr>
            </a:pPr>
            <a:r>
              <a:t>Fiches produits, prix en Ariary et actions d’achat.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D6A62B"/>
                </a:solidFill>
                <a:latin typeface="Liberation Sans"/>
              </a:defRPr>
            </a:pPr>
            <a:r>
              <a:t>ZINA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INTERFACES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Diagnostic et contenus éditoriaux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600200"/>
            <a:ext cx="5458968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zina_s16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941650"/>
            <a:ext cx="5458968" cy="260893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99632" y="1600200"/>
            <a:ext cx="5458968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zina_s19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934995"/>
            <a:ext cx="5458968" cy="262224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39496" y="5047488"/>
            <a:ext cx="54132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5184648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D6A62B"/>
                </a:solidFill>
                <a:latin typeface="Liberation Sans"/>
              </a:defRPr>
            </a:pPr>
            <a:r>
              <a:t>DIAGNOSTIC CAPILLAIRE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550468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33495F"/>
                </a:solidFill>
                <a:latin typeface="Liberation Sans"/>
              </a:defRPr>
            </a:pPr>
            <a:r>
              <a:t>Formulaire de profil capillaire et orientation des recommandations.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5047488"/>
            <a:ext cx="54132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5184648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D6A62B"/>
                </a:solidFill>
                <a:latin typeface="Liberation Sans"/>
              </a:defRPr>
            </a:pPr>
            <a:r>
              <a:t>BLOG PUBLIC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550468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33495F"/>
                </a:solidFill>
                <a:latin typeface="Liberation Sans"/>
              </a:defRPr>
            </a:pPr>
            <a:r>
              <a:t>Articles pour informer et valoriser l’offre de soins.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D6A62B"/>
                </a:solidFill>
                <a:latin typeface="Liberation Sans"/>
              </a:defRPr>
            </a:pPr>
            <a:r>
              <a:t>ZINA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Espaces Client et administration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Données fictives signalées dans les captures — ces vues sont des démonstrations locales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00200"/>
            <a:ext cx="5458968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zina_s23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177" y="1600200"/>
            <a:ext cx="4309317" cy="3291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99632" y="1600200"/>
            <a:ext cx="5458968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zina_s25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457" y="1600200"/>
            <a:ext cx="4309317" cy="32918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39496" y="5047488"/>
            <a:ext cx="54132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184648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D6A62B"/>
                </a:solidFill>
                <a:latin typeface="Liberation Sans"/>
              </a:defRPr>
            </a:pPr>
            <a:r>
              <a:t>ESPACE CLIENT · DÉMO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50468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33495F"/>
                </a:solidFill>
                <a:latin typeface="Liberation Sans"/>
              </a:defRPr>
            </a:pPr>
            <a:r>
              <a:t>Tableau de bord client : commandes, rendez-vous et fidélité.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5047488"/>
            <a:ext cx="54132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5184648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D6A62B"/>
                </a:solidFill>
                <a:latin typeface="Liberation Sans"/>
              </a:defRPr>
            </a:pPr>
            <a:r>
              <a:t>CRM ADMIN · DÉMO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50468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33495F"/>
                </a:solidFill>
                <a:latin typeface="Liberation Sans"/>
              </a:defRPr>
            </a:pPr>
            <a:r>
              <a:t>CRM ADMIN : segments, visites, achats et interactions simulées.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D6A62B"/>
                </a:solidFill>
                <a:latin typeface="Liberation Sans"/>
              </a:defRPr>
            </a:pPr>
            <a:r>
              <a:t>ZINA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Frontend React et Backend Java distincts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Architecture à couches décrite dans le mémoire du projet.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" y="1847088"/>
            <a:ext cx="2526030" cy="3026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103120"/>
            <a:ext cx="225171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D6A62B"/>
                </a:solidFill>
                <a:latin typeface="Liberation Sans"/>
              </a:defRPr>
            </a:pPr>
            <a:r>
              <a:t>01 ·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706624"/>
            <a:ext cx="216027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42E49"/>
                </a:solidFill>
                <a:latin typeface="Liberation Sans"/>
              </a:defRPr>
            </a:pPr>
            <a:r>
              <a:t>React / Vite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3666744"/>
            <a:ext cx="216027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66B80"/>
                </a:solidFill>
                <a:latin typeface="Liberation Sans"/>
              </a:defRPr>
            </a:pPr>
            <a:r>
              <a:t>Composants, formulaires, navigation et FR/EN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6674" y="320040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000" b="1">
                <a:solidFill>
                  <a:srgbClr val="D6A62B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5566" y="1847088"/>
            <a:ext cx="2526030" cy="3026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6734" y="2103120"/>
            <a:ext cx="225171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D6A62B"/>
                </a:solidFill>
                <a:latin typeface="Liberation Sans"/>
              </a:defRPr>
            </a:pPr>
            <a:r>
              <a:t>02 · HTTP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2706624"/>
            <a:ext cx="216027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42E49"/>
                </a:solidFill>
                <a:latin typeface="Liberation Sans"/>
              </a:defRPr>
            </a:pPr>
            <a:r>
              <a:t>API 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6734" y="3666744"/>
            <a:ext cx="216027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66B80"/>
                </a:solidFill>
                <a:latin typeface="Liberation Sans"/>
              </a:defRPr>
            </a:pPr>
            <a:r>
              <a:t>Échanges JSON entre l’application et le serveur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2744" y="320040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000" b="1">
                <a:solidFill>
                  <a:srgbClr val="D6A62B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1636" y="1847088"/>
            <a:ext cx="2526030" cy="3026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2804" y="2103120"/>
            <a:ext cx="225171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D6A62B"/>
                </a:solidFill>
                <a:latin typeface="Liberation Sans"/>
              </a:defRPr>
            </a:pPr>
            <a:r>
              <a:t>03 · LOGIQUE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2804" y="2706624"/>
            <a:ext cx="216027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42E49"/>
                </a:solidFill>
                <a:latin typeface="Liberation Sans"/>
              </a:defRPr>
            </a:pPr>
            <a:r>
              <a:t>Spring Boot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2804" y="3666744"/>
            <a:ext cx="216027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66B80"/>
                </a:solidFill>
                <a:latin typeface="Liberation Sans"/>
              </a:defRPr>
            </a:pPr>
            <a:r>
              <a:t>Services métier, accès sécurisés et notifications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8814" y="320040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000" b="1">
                <a:solidFill>
                  <a:srgbClr val="D6A62B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7706" y="1847088"/>
            <a:ext cx="2526030" cy="3026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78874" y="2103120"/>
            <a:ext cx="225171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D6A62B"/>
                </a:solidFill>
                <a:latin typeface="Liberation Sans"/>
              </a:defRPr>
            </a:pPr>
            <a:r>
              <a:t>04 · 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8874" y="2706624"/>
            <a:ext cx="216027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42E49"/>
                </a:solidFill>
                <a:latin typeface="Liberation Sans"/>
              </a:defRPr>
            </a:pPr>
            <a:r>
              <a:t>PostgreSQL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8874" y="3666744"/>
            <a:ext cx="216027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66B80"/>
                </a:solidFill>
                <a:latin typeface="Liberation Sans"/>
              </a:defRPr>
            </a:pPr>
            <a:r>
              <a:t>Modèle relationnel avec Spring Data JPA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614416"/>
            <a:ext cx="10972800" cy="484632"/>
          </a:xfrm>
          <a:prstGeom prst="roundRect">
            <a:avLst/>
          </a:prstGeom>
          <a:solidFill>
            <a:srgbClr val="F8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724144"/>
            <a:ext cx="1065276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0">
                <a:solidFill>
                  <a:srgbClr val="3A5365"/>
                </a:solidFill>
                <a:latin typeface="Liberation Sans"/>
              </a:defRPr>
            </a:pPr>
            <a:r>
              <a:t>TRANSVERSE  La présence d’une architecture documentée ne prouve pas que chaque endpoint est déployé ou testé.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D6A62B"/>
                </a:solidFill>
                <a:latin typeface="Liberation Sans"/>
              </a:defRPr>
            </a:pPr>
            <a:r>
              <a:t>ZINA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Modèle de données documenté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Entités clés et liens métier du modèle documenté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55648"/>
            <a:ext cx="3621024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956816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D6A62B"/>
                </a:solidFill>
                <a:latin typeface="Liberation Sans"/>
              </a:defRPr>
            </a:pPr>
            <a:r>
              <a:t>USERS / 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340864"/>
            <a:ext cx="3182112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0">
                <a:solidFill>
                  <a:srgbClr val="425B72"/>
                </a:solidFill>
                <a:latin typeface="Liberation Sans"/>
              </a:defRPr>
            </a:pPr>
            <a:r>
              <a:t>Comptes et permissions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1755648"/>
            <a:ext cx="3621024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956816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D6A62B"/>
                </a:solidFill>
                <a:latin typeface="Liberation Sans"/>
              </a:defRPr>
            </a:pPr>
            <a:r>
              <a:t>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340864"/>
            <a:ext cx="3182112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0">
                <a:solidFill>
                  <a:srgbClr val="425B72"/>
                </a:solidFill>
                <a:latin typeface="Liberation Sans"/>
              </a:defRPr>
            </a:pPr>
            <a:r>
              <a:t>Produits et catalogue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755648"/>
            <a:ext cx="3621024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956816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D6A62B"/>
                </a:solidFill>
                <a:latin typeface="Liberation Sans"/>
              </a:defRPr>
            </a:pPr>
            <a:r>
              <a:t>ORDERS / ORDER_ITEMS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340864"/>
            <a:ext cx="3182112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0">
                <a:solidFill>
                  <a:srgbClr val="425B72"/>
                </a:solidFill>
                <a:latin typeface="Liberation Sans"/>
              </a:defRPr>
            </a:pPr>
            <a:r>
              <a:t>Commandes et articles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099815"/>
            <a:ext cx="3621024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300984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D6A62B"/>
                </a:solidFill>
                <a:latin typeface="Liberation Sans"/>
              </a:defRPr>
            </a:pPr>
            <a:r>
              <a:t>APPOINTMENTS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685031"/>
            <a:ext cx="3182112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0">
                <a:solidFill>
                  <a:srgbClr val="425B72"/>
                </a:solidFill>
                <a:latin typeface="Liberation Sans"/>
              </a:defRPr>
            </a:pPr>
            <a:r>
              <a:t>Rendez-vous et états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2544" y="3099815"/>
            <a:ext cx="3621024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3300984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D6A62B"/>
                </a:solidFill>
                <a:latin typeface="Liberation Sans"/>
              </a:defRPr>
            </a:pPr>
            <a:r>
              <a:t>PAYMENTS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685031"/>
            <a:ext cx="3182112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0">
                <a:solidFill>
                  <a:srgbClr val="425B72"/>
                </a:solidFill>
                <a:latin typeface="Liberation Sans"/>
              </a:defRPr>
            </a:pPr>
            <a:r>
              <a:t>Références et statuts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56448" y="3099815"/>
            <a:ext cx="3621024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7616" y="3300984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D6A62B"/>
                </a:solidFill>
                <a:latin typeface="Liberation Sans"/>
              </a:defRPr>
            </a:pPr>
            <a:r>
              <a:t>LOYALTIES / HISTORIES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3685031"/>
            <a:ext cx="3182112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0">
                <a:solidFill>
                  <a:srgbClr val="425B72"/>
                </a:solidFill>
                <a:latin typeface="Liberation Sans"/>
              </a:defRPr>
            </a:pPr>
            <a:r>
              <a:t>Fidélisation et événements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910328"/>
            <a:ext cx="10972800" cy="576072"/>
          </a:xfrm>
          <a:prstGeom prst="roundRect">
            <a:avLst/>
          </a:prstGeom>
          <a:solidFill>
            <a:srgbClr val="F8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020056"/>
            <a:ext cx="10652760" cy="4389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0">
                <a:solidFill>
                  <a:srgbClr val="3A5365"/>
                </a:solidFill>
                <a:latin typeface="Liberation Sans"/>
              </a:defRPr>
            </a:pPr>
            <a:r>
              <a:t>RELATIONS  users → orders → order_items → products ; users → appointments ; orders → payments.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733288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0">
                <a:solidFill>
                  <a:srgbClr val="566C7F"/>
                </a:solidFill>
                <a:latin typeface="Liberation Sans"/>
              </a:defRPr>
            </a:pPr>
            <a:r>
              <a:t>Le mémoire recense 21 tables cibles ; ce chiffre n’a pas été contrôlé dans un dump PostgreSQL restauré.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D6A62B"/>
                </a:solidFill>
                <a:latin typeface="Liberation Sans"/>
              </a:defRPr>
            </a:pPr>
            <a:r>
              <a:t>ZINA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RENDEZ-VOUS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Du formulaire au suivi de la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Les emails de rendez-vous reçus dans certains scénarios figurent dans les documents fournis.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262661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2139696"/>
            <a:ext cx="521207" cy="521207"/>
          </a:xfrm>
          <a:prstGeom prst="round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" y="2258568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889504"/>
            <a:ext cx="229743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00" b="1">
                <a:solidFill>
                  <a:srgbClr val="152F4A"/>
                </a:solidFill>
                <a:latin typeface="Liberation Sans"/>
              </a:defRPr>
            </a:pPr>
            <a:r>
              <a:t>Choisir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666744"/>
            <a:ext cx="2260854" cy="10698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77D"/>
                </a:solidFill>
                <a:latin typeface="Liberation Sans"/>
              </a:defRPr>
            </a:pPr>
            <a:r>
              <a:t>Sélectionner une prestation et un créneau.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8134" y="1901952"/>
            <a:ext cx="262661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41014" y="2139696"/>
            <a:ext cx="521207" cy="521207"/>
          </a:xfrm>
          <a:prstGeom prst="round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3310" y="2258568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1014" y="2889504"/>
            <a:ext cx="229743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00" b="1">
                <a:solidFill>
                  <a:srgbClr val="152F4A"/>
                </a:solidFill>
                <a:latin typeface="Liberation Sans"/>
              </a:defRPr>
            </a:pPr>
            <a:r>
              <a:t>Enregistrer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1014" y="3666744"/>
            <a:ext cx="2260854" cy="10698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77D"/>
                </a:solidFill>
                <a:latin typeface="Liberation Sans"/>
              </a:defRPr>
            </a:pPr>
            <a:r>
              <a:t>Créer une demande avec un statut.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5916" y="1901952"/>
            <a:ext cx="262661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68796" y="2139696"/>
            <a:ext cx="521207" cy="521207"/>
          </a:xfrm>
          <a:prstGeom prst="round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1092" y="2258568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2889504"/>
            <a:ext cx="229743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00" b="1">
                <a:solidFill>
                  <a:srgbClr val="152F4A"/>
                </a:solidFill>
                <a:latin typeface="Liberation Sans"/>
              </a:defRPr>
            </a:pPr>
            <a:r>
              <a:t>Traiter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8796" y="3666744"/>
            <a:ext cx="2260854" cy="10698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77D"/>
                </a:solidFill>
                <a:latin typeface="Liberation Sans"/>
              </a:defRPr>
            </a:pPr>
            <a:r>
              <a:t>Valider, reprogrammer ou annuler selon le parcours.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13698" y="1901952"/>
            <a:ext cx="262661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96578" y="2139696"/>
            <a:ext cx="521207" cy="521207"/>
          </a:xfrm>
          <a:prstGeom prst="round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78874" y="2258568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6578" y="2889504"/>
            <a:ext cx="229743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00" b="1">
                <a:solidFill>
                  <a:srgbClr val="152F4A"/>
                </a:solidFill>
                <a:latin typeface="Liberation Sans"/>
              </a:defRPr>
            </a:pPr>
            <a:r>
              <a:t>Notifier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6578" y="3666744"/>
            <a:ext cx="2260854" cy="10698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77D"/>
                </a:solidFill>
                <a:latin typeface="Liberation Sans"/>
              </a:defRPr>
            </a:pPr>
            <a:r>
              <a:t>Informer le client via email quand le scénario le prévoit.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650992"/>
            <a:ext cx="10972800" cy="484632"/>
          </a:xfrm>
          <a:prstGeom prst="roundRect">
            <a:avLst/>
          </a:prstGeom>
          <a:solidFill>
            <a:srgbClr val="F8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760720"/>
            <a:ext cx="1065276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0">
                <a:solidFill>
                  <a:srgbClr val="3A5365"/>
                </a:solidFill>
                <a:latin typeface="Liberation Sans"/>
              </a:defRPr>
            </a:pPr>
            <a:r>
              <a:t>À RETENIR  Les captures ne certifient ni tous les chemins d’envoi, ni la disponibilité du service en production.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D6A62B"/>
                </a:solidFill>
                <a:latin typeface="Liberation Sans"/>
              </a:defRPr>
            </a:pPr>
            <a:r>
              <a:t>ZINA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PARCOURS &amp; 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CRM et rendez-vous : vues de scénario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Les écrans illustrent une logique d’usage, sans données clients réelles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655064"/>
            <a:ext cx="7333488" cy="4416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zina_s27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837" y="1655064"/>
            <a:ext cx="5781668" cy="44165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138160" y="1664208"/>
            <a:ext cx="3483864" cy="4416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93852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D6A62B"/>
                </a:solidFill>
                <a:latin typeface="Liberation Sans"/>
              </a:defRPr>
            </a:pPr>
            <a:r>
              <a:t>MODE DÉMONSTRATION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2615184"/>
            <a:ext cx="100584" cy="100584"/>
          </a:xfrm>
          <a:prstGeom prst="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22792" y="2532888"/>
            <a:ext cx="2679192" cy="64922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3E5368"/>
                </a:solidFill>
                <a:latin typeface="Liberation Sans"/>
              </a:defRPr>
            </a:pPr>
            <a:r>
              <a:t>Dossiers et rendez-vous fictifs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60" y="3337560"/>
            <a:ext cx="100584" cy="100584"/>
          </a:xfrm>
          <a:prstGeom prst="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22792" y="3255264"/>
            <a:ext cx="2679192" cy="64922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3E5368"/>
                </a:solidFill>
                <a:latin typeface="Liberation Sans"/>
              </a:defRPr>
            </a:pPr>
            <a:r>
              <a:t>Action de validation illustrée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4059935"/>
            <a:ext cx="100584" cy="100584"/>
          </a:xfrm>
          <a:prstGeom prst="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22792" y="3977639"/>
            <a:ext cx="2679192" cy="64922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3E5368"/>
                </a:solidFill>
                <a:latin typeface="Liberation Sans"/>
              </a:defRPr>
            </a:pPr>
            <a:r>
              <a:t>Statistiques de scénario non réelles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4782312"/>
            <a:ext cx="100584" cy="100584"/>
          </a:xfrm>
          <a:prstGeom prst="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22792" y="4700016"/>
            <a:ext cx="2679192" cy="64922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3E5368"/>
                </a:solidFill>
                <a:latin typeface="Liberation Sans"/>
              </a:defRPr>
            </a:pPr>
            <a:r>
              <a:t>Aucune réservation effective présumée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D6A62B"/>
                </a:solidFill>
                <a:latin typeface="Liberation Sans"/>
              </a:defRPr>
            </a:pPr>
            <a:r>
              <a:t>ZINA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PÉRIMÈTRE &amp; QUALITÉ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Réalisations illustrées et validations à compléter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Une présentation fidèle aux preuves disponibles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1874519"/>
            <a:ext cx="3593592" cy="3575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" y="2093976"/>
            <a:ext cx="73152" cy="475488"/>
          </a:xfrm>
          <a:prstGeom prst="round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2121408"/>
            <a:ext cx="2971800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ILLUSTRÉ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560320"/>
            <a:ext cx="313639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Interfaces &amp; notifications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136391"/>
            <a:ext cx="3136392" cy="21762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Accueil, produits, services, diagnostic, blog et exemples d’emails.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8264" y="1874519"/>
            <a:ext cx="3593592" cy="3575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17720" y="2093976"/>
            <a:ext cx="73152" cy="475488"/>
          </a:xfrm>
          <a:prstGeom prst="round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9744" y="2121408"/>
            <a:ext cx="2971800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SCÉNARIOS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560320"/>
            <a:ext cx="313639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Parcours simulés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136391"/>
            <a:ext cx="3136392" cy="21762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CRM, fidélité, panier et rendez-vous à données fictives signalées.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11312" y="1874519"/>
            <a:ext cx="3593592" cy="3575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30768" y="2093976"/>
            <a:ext cx="73152" cy="475488"/>
          </a:xfrm>
          <a:prstGeom prst="round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22792" y="2121408"/>
            <a:ext cx="2971800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D6A62B"/>
                </a:solidFill>
                <a:latin typeface="Liberation Sans"/>
              </a:defRPr>
            </a:pPr>
            <a:r>
              <a:t>ÉVOLUTION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2560320"/>
            <a:ext cx="313639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Intégrations réelles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3136391"/>
            <a:ext cx="3136392" cy="21762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Tests de bout en bout, sécurité API et paiement automatisé non certifiés.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733288"/>
            <a:ext cx="10972800" cy="484632"/>
          </a:xfrm>
          <a:prstGeom prst="roundRect">
            <a:avLst/>
          </a:prstGeom>
          <a:solidFill>
            <a:srgbClr val="F8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43016"/>
            <a:ext cx="1065276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0">
                <a:solidFill>
                  <a:srgbClr val="3A5365"/>
                </a:solidFill>
                <a:latin typeface="Liberation Sans"/>
              </a:defRPr>
            </a:pPr>
            <a:r>
              <a:t>TRANSPARENCE  Aucun modèle IA entraîné ni règlement Mobile Money automatisé n’est affirmé sans preuve.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1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6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1206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00" b="1">
                <a:solidFill>
                  <a:srgbClr val="D6A62B"/>
                </a:solidFill>
                <a:latin typeface="Liberation Sans"/>
              </a:defRPr>
            </a:pPr>
            <a:r>
              <a:t>ZINA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44752"/>
            <a:ext cx="6492240" cy="1508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3600" b="1">
                <a:solidFill>
                  <a:srgbClr val="FFFFFF"/>
                </a:solidFill>
                <a:latin typeface="Liberation Sans"/>
              </a:defRPr>
            </a:pPr>
            <a:r>
              <a:t>ZINA by Tsara Volo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236976"/>
            <a:ext cx="5669280" cy="11704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0">
                <a:solidFill>
                  <a:srgbClr val="D4E1E9"/>
                </a:solidFill>
                <a:latin typeface="Liberation Sans"/>
              </a:defRPr>
            </a:pPr>
            <a:r>
              <a:t>Une réalisation Full-Stack qui articule commerce, services et relation client autour d’une architecture React / Java.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4791456"/>
            <a:ext cx="2587752" cy="438912"/>
          </a:xfrm>
          <a:prstGeom prst="roundRect">
            <a:avLst/>
          </a:prstGeom>
          <a:solidFill>
            <a:srgbClr val="25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4892040"/>
            <a:ext cx="235000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F2F9FD"/>
                </a:solidFill>
                <a:latin typeface="Liberation Sans"/>
              </a:defRPr>
            </a:pPr>
            <a:r>
              <a:t>React / Vite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4791456"/>
            <a:ext cx="2587752" cy="438912"/>
          </a:xfrm>
          <a:prstGeom prst="roundRect">
            <a:avLst/>
          </a:prstGeom>
          <a:solidFill>
            <a:srgbClr val="25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39" y="4892040"/>
            <a:ext cx="235000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F2F9FD"/>
                </a:solidFill>
                <a:latin typeface="Liberation Sans"/>
              </a:defRPr>
            </a:pPr>
            <a:r>
              <a:t>Spring Boot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" y="5422392"/>
            <a:ext cx="2587752" cy="438912"/>
          </a:xfrm>
          <a:prstGeom prst="roundRect">
            <a:avLst/>
          </a:prstGeom>
          <a:solidFill>
            <a:srgbClr val="25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5522976"/>
            <a:ext cx="235000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F2F9FD"/>
                </a:solidFill>
                <a:latin typeface="Liberation Sans"/>
              </a:defRPr>
            </a:pPr>
            <a:r>
              <a:t>PostgreSQL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79" y="5422392"/>
            <a:ext cx="2587752" cy="438912"/>
          </a:xfrm>
          <a:prstGeom prst="roundRect">
            <a:avLst/>
          </a:prstGeom>
          <a:solidFill>
            <a:srgbClr val="25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5522976"/>
            <a:ext cx="235000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F2F9FD"/>
                </a:solidFill>
                <a:latin typeface="Liberation Sans"/>
              </a:defRPr>
            </a:pPr>
            <a:r>
              <a:t>CRM interne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1325880"/>
            <a:ext cx="4663440" cy="4379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zina_s13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399736"/>
            <a:ext cx="4663440" cy="223226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39712" y="5861304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900" b="0">
                <a:solidFill>
                  <a:srgbClr val="B6CADA"/>
                </a:solidFill>
                <a:latin typeface="Liberation Sans"/>
              </a:defRPr>
            </a:pPr>
            <a:r>
              <a:t>Captures et architecture présentées à partir des documents du projet.</a:t>
            </a:r>
          </a:p>
          <a:p>
            <a:pPr algn="l">
              <a:lnSpc>
                <a:spcPct val="112000"/>
              </a:lnSpc>
              <a:spcAft>
                <a:spcPts val="100"/>
              </a:spcAft>
              <a:defRPr sz="900" b="0">
                <a:solidFill>
                  <a:srgbClr val="B6CADA"/>
                </a:solidFill>
                <a:latin typeface="Liberation Sans"/>
              </a:defRPr>
            </a:pPr>
            <a:r>
              <a:t>Aucune mise en production n’est présumée.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ZINA - Étude de cas publique</dc:title>
  <dc:subject>Présentation publique de projet logiciel</dc:subject>
  <dc:creator>RANDRIAMANANTENA Fitahiana Lafatra</dc:creator>
  <cp:keywords>Portfolio, étude de cas, architecture, application web</cp:keywords>
  <dc:description>Présenté par RANDRIAMANANTENA Fitahiana Lafatra</dc:description>
  <cp:lastModifiedBy>RANDRIAMANANTENA Fitahiana Lafatra</cp:lastModifiedBy>
  <cp:revision>1</cp:revision>
  <dcterms:created xsi:type="dcterms:W3CDTF">2013-01-27T09:14:16Z</dcterms:created>
  <dcterms:modified xsi:type="dcterms:W3CDTF">2013-01-27T09:15:58Z</dcterms:modified>
  <cp:category/>
</cp:coreProperties>
</file>