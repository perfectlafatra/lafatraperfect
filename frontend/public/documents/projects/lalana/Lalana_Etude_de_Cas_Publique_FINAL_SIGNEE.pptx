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1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484632"/>
            <a:ext cx="2743200" cy="73152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1">
                <a:solidFill>
                  <a:srgbClr val="0AA89E"/>
                </a:solidFill>
                <a:latin typeface="Liberation Sans"/>
              </a:defRPr>
            </a:pPr>
            <a:r>
              <a:t>ÉTUDE DE CAS /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4000" b="1">
                <a:solidFill>
                  <a:srgbClr val="FFFFFF"/>
                </a:solidFill>
                <a:latin typeface="Liberation Sans"/>
              </a:defRPr>
            </a:pPr>
            <a:r>
              <a:t>LALANA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807208"/>
            <a:ext cx="5394960" cy="10515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000" b="0">
                <a:solidFill>
                  <a:srgbClr val="CFDFEA"/>
                </a:solidFill>
                <a:latin typeface="Liberation Sans"/>
              </a:defRPr>
            </a:pPr>
            <a:r>
              <a:t>Nosy Be Travel Agency</a:t>
            </a:r>
          </a:p>
          <a:p>
            <a:pPr algn="l">
              <a:lnSpc>
                <a:spcPct val="112000"/>
              </a:lnSpc>
              <a:spcAft>
                <a:spcPts val="100"/>
              </a:spcAft>
              <a:defRPr sz="2000" b="0">
                <a:solidFill>
                  <a:srgbClr val="CFDFEA"/>
                </a:solidFill>
                <a:latin typeface="Liberation Sans"/>
              </a:defRPr>
            </a:pPr>
            <a:r>
              <a:t>Plateforme de gestion touristique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5010912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DCE6EE"/>
                </a:solidFill>
                <a:latin typeface="Liberation Sans"/>
              </a:defRPr>
            </a:pPr>
            <a:r>
              <a:t>JAVA 17   /   SPRING BOOT 3.4.4</a:t>
            </a:r>
          </a:p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DCE6EE"/>
                </a:solidFill>
                <a:latin typeface="Liberation Sans"/>
              </a:defRPr>
            </a:pPr>
            <a:r>
              <a:t>THYMELEAF   /   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080760"/>
            <a:ext cx="2834640" cy="38404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6126480"/>
            <a:ext cx="2587752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FFFFF"/>
                </a:solidFill>
                <a:latin typeface="Liberation Sans"/>
              </a:defRPr>
            </a:pPr>
            <a:r>
              <a:t>APPLICATION WEB · ÉTUDE DE 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1097280"/>
            <a:ext cx="5340096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alana_s0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1636776"/>
            <a:ext cx="5340096" cy="3337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6520" y="5678424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B7CBD7"/>
                </a:solidFill>
                <a:latin typeface="Liberation Sans"/>
              </a:defRPr>
            </a:pPr>
            <a:r>
              <a:t>Capture d’accueil issue du projet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7083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Aptos"/>
              </a:rPr>
              <a:t>Présenté par : RANDRIAMANANTENA Fitahiana Lafatra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LALANA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SYNTHÈSE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Le projet en bref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Une solution Web organisée autour de trois espaces métier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" y="1673352"/>
            <a:ext cx="54406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892808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1920240"/>
            <a:ext cx="481888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CONTEXTE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359152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Voyage &amp; réservation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935224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Circuits, destinations, vols et réservations dans un même système.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673352"/>
            <a:ext cx="54406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892808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1920240"/>
            <a:ext cx="481888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OBJECTIF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59152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Centraliser les parcours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35224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Découvrir une offre, vérifier les disponibilités et suivre la réservation.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" y="3858768"/>
            <a:ext cx="54406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" y="4078224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105656"/>
            <a:ext cx="481888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UTILISATEURS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54456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Trois espaces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120640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Client, Gestionnaire et Administrateur avec parcours différenciés.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858768"/>
            <a:ext cx="54406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4078224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2824" y="4105656"/>
            <a:ext cx="481888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SOCLE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4456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Spring MVC + 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20640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Pages Thymeleaf, services métier, repositories JPA et rôles Spring Security.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LALANA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PROBLÈME &amp;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Du catalogue touristique au suivi opérationnel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Une interface cohérente pour les voyageurs et l’équipe de gestion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1856231"/>
            <a:ext cx="3593592" cy="3374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" y="2075687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2103120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542032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DÉCOUVERTE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118103"/>
            <a:ext cx="3136392" cy="19751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Présenter circuits, vols et destinations avec des informations lisibles.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1856231"/>
            <a:ext cx="3593592" cy="3374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17720" y="2075687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9744" y="2103120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542032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RÉSERVATION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18103"/>
            <a:ext cx="3136392" cy="19751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Gérer le choix des offres, le nombre de personnes et la disponibilité.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2" y="1856231"/>
            <a:ext cx="3593592" cy="3374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30768" y="2075687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2" y="2103120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2542032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EXPLOITATION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118103"/>
            <a:ext cx="3136392" cy="19751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Permettre aux équipes de superviser les dossiers et les indicateurs.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705856"/>
            <a:ext cx="10972800" cy="484632"/>
          </a:xfrm>
          <a:prstGeom prst="roundRect">
            <a:avLst/>
          </a:prstGeom>
          <a:solidFill>
            <a:srgbClr val="E9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15584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APPROCHE  Un même socle Java, avec des interfaces adaptées selon les utilisateurs.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LALANA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ACTEURS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Trois profils, des responsabilités distinctes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La séparation des droits est conçue pour être appliquée côté serveur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1856231"/>
            <a:ext cx="3593592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" y="2075687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2103120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VISITEUR /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542032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Explorer et réserver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118103"/>
            <a:ext cx="3136392" cy="2212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Voir les offres, créer un compte, consulter ses demandes et suivre ses réservations.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1856231"/>
            <a:ext cx="3593592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17720" y="2075687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9744" y="2103120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GESTIONNAIRE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542032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Traiter les dossiers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18103"/>
            <a:ext cx="3136392" cy="2212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Gérer des circuits, vols, clients et demandes de réservation selon les autorisations.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2" y="1856231"/>
            <a:ext cx="3593592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30768" y="2075687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2" y="2103120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ADMINISTRATEUR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2542032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Piloter la plateforme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118103"/>
            <a:ext cx="3136392" cy="2212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Superviser utilisateurs, circuits, destinations, vols, réservations, statistiques et activité.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724144"/>
            <a:ext cx="10972800" cy="484632"/>
          </a:xfrm>
          <a:prstGeom prst="roundRect">
            <a:avLst/>
          </a:prstGeom>
          <a:solidFill>
            <a:srgbClr val="E9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33872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PRINCIPE  L’accès aux données exige des contrôles serveur, pas uniquement des liens de menu.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LALANA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Page d’accueil publique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Interface issue des templates du projet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7452360" cy="45354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alana_s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187511"/>
            <a:ext cx="7452360" cy="341566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0456" y="1636776"/>
            <a:ext cx="3456432" cy="4535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4776" y="1874519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0AA89E"/>
                </a:solidFill>
                <a:latin typeface="Liberation Sans"/>
              </a:defRPr>
            </a:pPr>
            <a:r>
              <a:t>CE QUE MONTRE CETTE VUE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22208" y="2542032"/>
            <a:ext cx="91440" cy="91440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2441448"/>
            <a:ext cx="2633472" cy="7040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213C53"/>
                </a:solidFill>
                <a:latin typeface="Liberation Sans"/>
              </a:defRPr>
            </a:pPr>
            <a:r>
              <a:t>Navigation publique et identification du service touristique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22208" y="3383279"/>
            <a:ext cx="91440" cy="91440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3282696"/>
            <a:ext cx="2633472" cy="7040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213C53"/>
                </a:solidFill>
                <a:latin typeface="Liberation Sans"/>
              </a:defRPr>
            </a:pPr>
            <a:r>
              <a:t>Carrousel de présentation de Nosy Be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22208" y="4224528"/>
            <a:ext cx="91440" cy="91440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4123944"/>
            <a:ext cx="2633472" cy="7040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213C53"/>
                </a:solidFill>
                <a:latin typeface="Liberation Sans"/>
              </a:defRPr>
            </a:pPr>
            <a:r>
              <a:t>Accès aux offres et aux parcours de réservation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21792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900" b="0">
                <a:solidFill>
                  <a:srgbClr val="6C7D8C"/>
                </a:solidFill>
                <a:latin typeface="Liberation Sans"/>
              </a:defRPr>
            </a:pPr>
            <a:r>
              <a:t>Capture du rendu de l’interface, distincte d’un déploiement public vérifié.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LALANA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Connexion et tableaux de bord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600200"/>
            <a:ext cx="545896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lana_s1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13" y="1600200"/>
            <a:ext cx="5152445" cy="3291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99632" y="1600200"/>
            <a:ext cx="545896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lana_s1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1600200"/>
            <a:ext cx="5266944" cy="32918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39496" y="5047488"/>
            <a:ext cx="5413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18464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ACCÈS AUX COMPTES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504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3495F"/>
                </a:solidFill>
                <a:latin typeface="Liberation Sans"/>
              </a:defRPr>
            </a:pPr>
            <a:r>
              <a:t>Authentification avec formulaire et navigation vers les espaces privés.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5047488"/>
            <a:ext cx="5413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518464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ESPACE ADMINISTRATEUR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5504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3495F"/>
                </a:solidFill>
                <a:latin typeface="Liberation Sans"/>
              </a:defRPr>
            </a:pPr>
            <a:r>
              <a:t>Vue ADMIN : KPI, accès aux modules de gestion et section Statistiques.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LALANA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Gestionnaire et suivi des réservations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600200"/>
            <a:ext cx="545896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lana_s1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" y="1600200"/>
            <a:ext cx="5266944" cy="3291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99632" y="1600200"/>
            <a:ext cx="545896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lana_s14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893" y="1600200"/>
            <a:ext cx="5152445" cy="32918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39496" y="5047488"/>
            <a:ext cx="5413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18464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GESTIONNAIRE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504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3495F"/>
                </a:solidFill>
                <a:latin typeface="Liberation Sans"/>
              </a:defRPr>
            </a:pPr>
            <a:r>
              <a:t>Tableau de bord dédié aux opérations de gestion et aux indicateurs.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5047488"/>
            <a:ext cx="5413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518464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5504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3495F"/>
                </a:solidFill>
                <a:latin typeface="Liberation Sans"/>
              </a:defRPr>
            </a:pPr>
            <a:r>
              <a:t>Vue Client : historique et statuts des réservations.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LALANA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Spring MVC et rendu côté serveur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Architecture structurée en couches ; ce projet ne repose pas sur React.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" y="1847088"/>
            <a:ext cx="2526030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103120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01 · NAVIGATEUR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706624"/>
            <a:ext cx="216027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42E49"/>
                </a:solidFill>
                <a:latin typeface="Liberation Sans"/>
              </a:defRPr>
            </a:pPr>
            <a:r>
              <a:t>HTML / CSS / 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666744"/>
            <a:ext cx="216027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66B80"/>
                </a:solidFill>
                <a:latin typeface="Liberation Sans"/>
              </a:defRPr>
            </a:pPr>
            <a:r>
              <a:t>Vues Thymeleaf et graphiques Chart.js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6674" y="32004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000" b="1">
                <a:solidFill>
                  <a:srgbClr val="0AA89E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5566" y="1847088"/>
            <a:ext cx="2526030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2103120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02 · ROUTAGE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2706624"/>
            <a:ext cx="216027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42E49"/>
                </a:solidFill>
                <a:latin typeface="Liberation Sans"/>
              </a:defRPr>
            </a:pPr>
            <a:r>
              <a:t>Contrôleurs MVC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6734" y="3666744"/>
            <a:ext cx="216027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66B80"/>
                </a:solidFill>
                <a:latin typeface="Liberation Sans"/>
              </a:defRPr>
            </a:pPr>
            <a:r>
              <a:t>Formulaires, routes et modèle de vue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2744" y="32004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000" b="1">
                <a:solidFill>
                  <a:srgbClr val="0AA89E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1636" y="1847088"/>
            <a:ext cx="2526030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2804" y="2103120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03 · MÉTIER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804" y="2706624"/>
            <a:ext cx="216027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42E49"/>
                </a:solidFill>
                <a:latin typeface="Liberation Sans"/>
              </a:defRPr>
            </a:pPr>
            <a:r>
              <a:t>Services Java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2804" y="3666744"/>
            <a:ext cx="216027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66B80"/>
                </a:solidFill>
                <a:latin typeface="Liberation Sans"/>
              </a:defRPr>
            </a:pPr>
            <a:r>
              <a:t>Règles de réservation et coordination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8814" y="32004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000" b="1">
                <a:solidFill>
                  <a:srgbClr val="0AA89E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7706" y="1847088"/>
            <a:ext cx="2526030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8874" y="2103120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04 · DONNÉES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8874" y="2706624"/>
            <a:ext cx="216027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42E49"/>
                </a:solidFill>
                <a:latin typeface="Liberation Sans"/>
              </a:defRPr>
            </a:pPr>
            <a:r>
              <a:t>JPA / PostgreSQL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8874" y="3666744"/>
            <a:ext cx="216027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66B80"/>
                </a:solidFill>
                <a:latin typeface="Liberation Sans"/>
              </a:defRPr>
            </a:pPr>
            <a:r>
              <a:t>Repositories, entités et relations 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614416"/>
            <a:ext cx="10972800" cy="484632"/>
          </a:xfrm>
          <a:prstGeom prst="roundRect">
            <a:avLst/>
          </a:prstGeom>
          <a:solidFill>
            <a:srgbClr val="E9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724144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TRANSVERSE  Spring Security (accès), JavaMailSender (emails), WebSocket/STOMP (chat).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LALANA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Entités principales du domaine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Entités clés et liens métier du modèle documenté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55648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56816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0AA89E"/>
                </a:solidFill>
                <a:latin typeface="Liberation Sans"/>
              </a:defRPr>
            </a:pPr>
            <a:r>
              <a:t>UTILISATEUR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340864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Comptes, rôles et identités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755648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956816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0AA89E"/>
                </a:solidFill>
                <a:latin typeface="Liberation Sans"/>
              </a:defRPr>
            </a:pPr>
            <a:r>
              <a:t>CIRCUIT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340864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Offres touristiques, prix, capacité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755648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956816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0AA89E"/>
                </a:solidFill>
                <a:latin typeface="Liberation Sans"/>
              </a:defRPr>
            </a:pPr>
            <a:r>
              <a:t>DESTINATION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340864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Lieux, descriptifs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99815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300984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0AA89E"/>
                </a:solidFill>
                <a:latin typeface="Liberation Sans"/>
              </a:defRPr>
            </a:pPr>
            <a:r>
              <a:t>VOL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685031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Trajets et disponibilités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3099815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300984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0AA89E"/>
                </a:solidFill>
                <a:latin typeface="Liberation Sans"/>
              </a:defRPr>
            </a:pPr>
            <a:r>
              <a:t>RÉSERVATION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685031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Client, offre, personnes, statut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6448" y="3099815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6" y="3300984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0AA89E"/>
                </a:solidFill>
                <a:latin typeface="Liberation Sans"/>
              </a:defRPr>
            </a:pPr>
            <a:r>
              <a:t>PAIEMENT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3685031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Montant et état associé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910328"/>
            <a:ext cx="10972800" cy="576072"/>
          </a:xfrm>
          <a:prstGeom prst="roundRect">
            <a:avLst/>
          </a:prstGeom>
          <a:solidFill>
            <a:srgbClr val="E9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20056"/>
            <a:ext cx="10652760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RELATIONS  Utilisateur → Réservation → Circuit / Vol ; Réservation → Paiement ; Circuit ↔ Destination.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733288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566C7F"/>
                </a:solidFill>
                <a:latin typeface="Liberation Sans"/>
              </a:defRPr>
            </a:pPr>
            <a:r>
              <a:t>Autres éléments documentés : association circuit_destination, journal d’activité et modèles de messages.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LALANA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PROCESSUS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Parcours de réservation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Circuit seul, vol seul ou package : parcours décrits dans le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139696"/>
            <a:ext cx="521207" cy="521207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Découvrir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Consulter circuits, vols et destinations.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8134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41014" y="2139696"/>
            <a:ext cx="521207" cy="521207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3310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1014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Choisir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1014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Sélectionner une offre et le nombre de personnes.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5916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68796" y="2139696"/>
            <a:ext cx="521207" cy="521207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1092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Contrôler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8796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Vérifier les capacités et la compatibilité.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13698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96578" y="2139696"/>
            <a:ext cx="521207" cy="521207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8874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6578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Suivre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6578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Enregistrer la demande et son statut.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650992"/>
            <a:ext cx="10972800" cy="484632"/>
          </a:xfrm>
          <a:prstGeom prst="roundRect">
            <a:avLst/>
          </a:prstGeom>
          <a:solidFill>
            <a:srgbClr val="E9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À RETENIR  La résistance aux réservations simultanées n’a pas été validée par une recette E2E fournie.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LALANA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Statistiques prévues dans les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Les composants Chart.js sont présents dans les templates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1901952"/>
            <a:ext cx="3584448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" y="2121408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2148840"/>
            <a:ext cx="2962656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587752"/>
            <a:ext cx="3127248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Revenus par mois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163824"/>
            <a:ext cx="3127248" cy="1965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Agrégation mensuelle de montants de réservations.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1901952"/>
            <a:ext cx="3584448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17720" y="2121408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9744" y="2148840"/>
            <a:ext cx="2962656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587752"/>
            <a:ext cx="3127248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Réservations par statut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63824"/>
            <a:ext cx="3127248" cy="1965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Comptage et répartition des statuts métier.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2" y="1901952"/>
            <a:ext cx="3584448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30768" y="2121408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2" y="2148840"/>
            <a:ext cx="2962656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2587752"/>
            <a:ext cx="3127248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Indicateurs de synthèse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163824"/>
            <a:ext cx="3127248" cy="1965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Utilisateurs, réservations et informations opérationnelles.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742432"/>
            <a:ext cx="10972800" cy="484632"/>
          </a:xfrm>
          <a:prstGeom prst="roundRect">
            <a:avLst/>
          </a:prstGeom>
          <a:solidFill>
            <a:srgbClr val="E9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LECTURE  Un total de réservations ne constitue pas, à lui seul, une preuve d’encaissement.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0AA89E"/>
                </a:solidFill>
                <a:latin typeface="Liberation Sans"/>
              </a:defRPr>
            </a:pPr>
            <a:r>
              <a:t>LALANA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Sécurité, validation et évolutions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Une architecture lisible, avec des contrôles à compléter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1883664"/>
            <a:ext cx="3602736" cy="3511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" y="2103120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130552"/>
            <a:ext cx="2980944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DÉJÀ DOCUMENTÉ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569464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Authentification et rôles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45536"/>
            <a:ext cx="3145536" cy="21122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Spring Security, encodage BCrypt et services de compte.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83664"/>
            <a:ext cx="3602736" cy="3511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103120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130552"/>
            <a:ext cx="2980944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À CONSOLIDER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569464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Validation des parcours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145536"/>
            <a:ext cx="3145536" cy="21122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Tests SQL et intégration, réservations concurrentes, email et responsive.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02168" y="1883664"/>
            <a:ext cx="3602736" cy="3511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21624" y="2103120"/>
            <a:ext cx="73152" cy="475488"/>
          </a:xfrm>
          <a:prstGeom prst="round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2130552"/>
            <a:ext cx="2980944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0AA89E"/>
                </a:solidFill>
                <a:latin typeface="Liberation Sans"/>
              </a:defRPr>
            </a:pPr>
            <a:r>
              <a:t>ÉVOLUTION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2569464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Robustesse opérationnelle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3145536"/>
            <a:ext cx="3145536" cy="21122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Durcir la configuration de sécurité, les traitements et l’observabilité.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742432"/>
            <a:ext cx="10972800" cy="484632"/>
          </a:xfrm>
          <a:prstGeom prst="roundRect">
            <a:avLst/>
          </a:prstGeom>
          <a:solidFill>
            <a:srgbClr val="E9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PÉRIMÈTRE  Sources et interfaces examinées ; déploiement en production et recette complète non établis.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1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0AA89E"/>
                </a:solidFill>
                <a:latin typeface="Liberation Sans"/>
              </a:defRPr>
            </a:pPr>
            <a:r>
              <a:t>LALANA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6492240" cy="1508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3600" b="1">
                <a:solidFill>
                  <a:srgbClr val="FFFFFF"/>
                </a:solidFill>
                <a:latin typeface="Liberation Sans"/>
              </a:defRPr>
            </a:pPr>
            <a:r>
              <a:t>Lalana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236976"/>
            <a:ext cx="5669280" cy="11704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0">
                <a:solidFill>
                  <a:srgbClr val="D4E1E9"/>
                </a:solidFill>
                <a:latin typeface="Liberation Sans"/>
              </a:defRPr>
            </a:pPr>
            <a:r>
              <a:t>Une étude de cas autour des architectures Java Web, de la réservation et de la persistance relationnelle.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4791456"/>
            <a:ext cx="2587752" cy="438912"/>
          </a:xfrm>
          <a:prstGeom prst="roundRect">
            <a:avLst/>
          </a:prstGeom>
          <a:solidFill>
            <a:srgbClr val="25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892040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2F9FD"/>
                </a:solidFill>
                <a:latin typeface="Liberation Sans"/>
              </a:defRPr>
            </a:pPr>
            <a:r>
              <a:t>Spring MVC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91456"/>
            <a:ext cx="2587752" cy="438912"/>
          </a:xfrm>
          <a:prstGeom prst="roundRect">
            <a:avLst/>
          </a:prstGeom>
          <a:solidFill>
            <a:srgbClr val="25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4892040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2F9FD"/>
                </a:solidFill>
                <a:latin typeface="Liberation Sans"/>
              </a:defRPr>
            </a:pPr>
            <a:r>
              <a:t>JPA / 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" y="5422392"/>
            <a:ext cx="2587752" cy="438912"/>
          </a:xfrm>
          <a:prstGeom prst="roundRect">
            <a:avLst/>
          </a:prstGeom>
          <a:solidFill>
            <a:srgbClr val="25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522976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2F9FD"/>
                </a:solidFill>
                <a:latin typeface="Liberation Sans"/>
              </a:defRPr>
            </a:pPr>
            <a:r>
              <a:t>Gestion des rôles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5422392"/>
            <a:ext cx="2587752" cy="438912"/>
          </a:xfrm>
          <a:prstGeom prst="roundRect">
            <a:avLst/>
          </a:prstGeom>
          <a:solidFill>
            <a:srgbClr val="25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5522976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2F9FD"/>
                </a:solidFill>
                <a:latin typeface="Liberation Sans"/>
              </a:defRPr>
            </a:pPr>
            <a:r>
              <a:t>Règles métier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325880"/>
            <a:ext cx="4663440" cy="4379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alana_s0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58542"/>
            <a:ext cx="4663440" cy="2914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39712" y="5861304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900" b="0">
                <a:solidFill>
                  <a:srgbClr val="B6CADA"/>
                </a:solidFill>
                <a:latin typeface="Liberation Sans"/>
              </a:defRPr>
            </a:pPr>
            <a:r>
              <a:t>Captures et architecture présentées à partir des documents du projet.</a:t>
            </a:r>
          </a:p>
          <a:p>
            <a:pPr algn="l">
              <a:lnSpc>
                <a:spcPct val="112000"/>
              </a:lnSpc>
              <a:spcAft>
                <a:spcPts val="100"/>
              </a:spcAft>
              <a:defRPr sz="900" b="0">
                <a:solidFill>
                  <a:srgbClr val="B6CADA"/>
                </a:solidFill>
                <a:latin typeface="Liberation Sans"/>
              </a:defRPr>
            </a:pPr>
            <a:r>
              <a:t>Aucune mise en production n’est présumée.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LALANA - Étude de cas publique</dc:title>
  <dc:subject>Présentation publique de projet logiciel</dc:subject>
  <dc:creator>RANDRIAMANANTENA Fitahiana Lafatra</dc:creator>
  <cp:keywords>Portfolio, étude de cas, architecture, application web</cp:keywords>
  <dc:description>Présenté par RANDRIAMANANTENA Fitahiana Lafatra</dc:description>
  <cp:lastModifiedBy>RANDRIAMANANTENA Fitahiana Lafatra</cp:lastModifiedBy>
  <cp:revision>1</cp:revision>
  <dcterms:created xsi:type="dcterms:W3CDTF">2013-01-27T09:14:16Z</dcterms:created>
  <dcterms:modified xsi:type="dcterms:W3CDTF">2013-01-27T09:15:58Z</dcterms:modified>
  <cp:category/>
</cp:coreProperties>
</file>